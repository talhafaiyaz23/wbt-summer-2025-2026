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98" r:id="rId10"/>
    <p:sldId id="302" r:id="rId11"/>
    <p:sldId id="303" r:id="rId12"/>
    <p:sldId id="304" r:id="rId13"/>
    <p:sldId id="305" r:id="rId14"/>
    <p:sldId id="301" r:id="rId15"/>
    <p:sldId id="299" r:id="rId16"/>
    <p:sldId id="269" r:id="rId17"/>
    <p:sldId id="270" r:id="rId18"/>
    <p:sldId id="271" r:id="rId19"/>
    <p:sldId id="294" r:id="rId20"/>
    <p:sldId id="295" r:id="rId21"/>
    <p:sldId id="29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8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19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D776-992C-FE2F-C44E-B0D23B69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D8C3-5A2C-0D3B-9075-C53F0AB8C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HTML DOM Navigation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4EE15DB-139E-90E2-730B-6C09FEBF1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7B5F3-CDD6-3ED2-9295-C6EA6588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59" y="2620563"/>
            <a:ext cx="8106906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2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E2BE-5686-4DD8-839B-E28722F3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8417-8157-32BB-14F4-D31E81582A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New HTML Elements (Nodes)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BB6FB77-3492-BECE-3363-5F89A3B7F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20FD7-4B94-1867-CD68-93058B26A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2" y="2385739"/>
            <a:ext cx="787827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07DA-46E8-1673-DD6F-FAC72910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3F724-0211-282A-F234-900720914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new HTML Elements - </a:t>
            </a:r>
            <a:r>
              <a:rPr lang="en-US" dirty="0" err="1"/>
              <a:t>insertBefore</a:t>
            </a:r>
            <a:r>
              <a:rPr lang="en-US" dirty="0"/>
              <a:t>()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84EE7E8-381E-779E-EB6B-6D0D3A28E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0D13A-1151-E789-6E2E-AFAB0760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2226936"/>
            <a:ext cx="8211696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0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640D-72DC-413D-DC9D-81B7513E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E285-AEF3-040A-4AFE-40C2CCE79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Existing HTML Elements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B11777-F8A5-B712-6161-8750B862C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3306D-79C4-B511-070B-D916891E6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9" y="2186804"/>
            <a:ext cx="7916380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2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1AAA-F0AF-8EAB-75E9-745DD2B8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EC3C-A728-3389-7495-AAA2BBE53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a Child Node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5BC2549-6996-9471-2074-CE0A9CED6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0565A-6411-AA5C-F8DF-926A2675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2304482"/>
            <a:ext cx="777348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3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8CB0-3653-4502-10F3-02B7CCAA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56CA-C1E5-7E3E-57A6-1B284AE6E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JS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9EB8E72-72DA-5F7A-B231-6D737A0E5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4509115-2EF1-C9A2-C6AF-CAA955DC84D6}"/>
              </a:ext>
            </a:extLst>
          </p:cNvPr>
          <p:cNvGraphicFramePr>
            <a:graphicFrameLocks/>
          </p:cNvGraphicFramePr>
          <p:nvPr/>
        </p:nvGraphicFramePr>
        <p:xfrm>
          <a:off x="518521" y="3100481"/>
          <a:ext cx="7077075" cy="2582724"/>
        </p:xfrm>
        <a:graphic>
          <a:graphicData uri="http://schemas.openxmlformats.org/drawingml/2006/table">
            <a:tbl>
              <a:tblPr/>
              <a:tblGrid>
                <a:gridCol w="3534611">
                  <a:extLst>
                    <a:ext uri="{9D8B030D-6E8A-4147-A177-3AD203B41FA5}">
                      <a16:colId xmlns:a16="http://schemas.microsoft.com/office/drawing/2014/main" val="1268324009"/>
                    </a:ext>
                  </a:extLst>
                </a:gridCol>
                <a:gridCol w="3542464">
                  <a:extLst>
                    <a:ext uri="{9D8B030D-6E8A-4147-A177-3AD203B41FA5}">
                      <a16:colId xmlns:a16="http://schemas.microsoft.com/office/drawing/2014/main" val="4153549455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Method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60172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document.getElementById(</a:t>
                      </a:r>
                      <a:r>
                        <a:rPr lang="en-US" sz="1500" i="1">
                          <a:effectLst/>
                        </a:rPr>
                        <a:t>id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an element by element id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406493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document.getElementsByTagName(</a:t>
                      </a:r>
                      <a:r>
                        <a:rPr lang="en-US" sz="1500" i="1">
                          <a:effectLst/>
                        </a:rPr>
                        <a:t>name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elements by tag name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51028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document.getElementsByClassName(</a:t>
                      </a:r>
                      <a:r>
                        <a:rPr lang="en-US" sz="1500" i="1">
                          <a:effectLst/>
                        </a:rPr>
                        <a:t>name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Find elements by class name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51269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document.querySelector(</a:t>
                      </a:r>
                      <a:r>
                        <a:rPr lang="en-US" sz="1500" i="1">
                          <a:effectLst/>
                        </a:rPr>
                        <a:t>selector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the first element that matches a CSS selector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63292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document.querySelectorAll(</a:t>
                      </a:r>
                      <a:r>
                        <a:rPr lang="en-US" sz="1500" i="1">
                          <a:effectLst/>
                        </a:rPr>
                        <a:t>selector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Find all elements that match a CSS selector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0428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CCE27072-6B30-0405-0DA0-B92CDF757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21" y="1953264"/>
            <a:ext cx="5522515" cy="825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Selecting HTML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50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ADA2-5D2F-BE3B-1C6C-43D4AE4B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277D-90F4-704E-A79A-38A718A3F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JS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31439BB-B782-1325-3760-1C76CB4E6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D59EE83-CDC0-BFE1-A3A0-8482F23F4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48596"/>
              </p:ext>
            </p:extLst>
          </p:nvPr>
        </p:nvGraphicFramePr>
        <p:xfrm>
          <a:off x="285751" y="2686498"/>
          <a:ext cx="7077074" cy="1062762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897966602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3887801582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Property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56188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i="1">
                          <a:effectLst/>
                        </a:rPr>
                        <a:t>element</a:t>
                      </a:r>
                      <a:r>
                        <a:rPr lang="en-US" sz="1500">
                          <a:effectLst/>
                        </a:rPr>
                        <a:t>.innerHTML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The HTML content of an element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082885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i="1" dirty="0" err="1">
                          <a:effectLst/>
                        </a:rPr>
                        <a:t>element</a:t>
                      </a:r>
                      <a:r>
                        <a:rPr lang="en-US" sz="1500" dirty="0" err="1">
                          <a:effectLst/>
                        </a:rPr>
                        <a:t>.textContent</a:t>
                      </a:r>
                      <a:endParaRPr lang="en-US" sz="1500" dirty="0">
                        <a:effectLst/>
                      </a:endParaRP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The text content of an element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74787"/>
                  </a:ext>
                </a:extLst>
              </a:tr>
            </a:tbl>
          </a:graphicData>
        </a:graphic>
      </p:graphicFrame>
      <p:sp>
        <p:nvSpPr>
          <p:cNvPr id="26" name="Rectangle 13">
            <a:extLst>
              <a:ext uri="{FF2B5EF4-FFF2-40B4-BE49-F238E27FC236}">
                <a16:creationId xmlns:a16="http://schemas.microsoft.com/office/drawing/2014/main" id="{3C0B516E-C2AA-CCA8-DD3C-1558E3368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1" y="1914956"/>
            <a:ext cx="8572498" cy="825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Accessing Element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88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1326A5-78CB-4DC5-9389-F16A3F92C599}"/>
</file>

<file path=customXml/itemProps2.xml><?xml version="1.0" encoding="utf-8"?>
<ds:datastoreItem xmlns:ds="http://schemas.openxmlformats.org/officeDocument/2006/customXml" ds:itemID="{3A278B59-91F1-416F-83EE-242DDC2F807F}"/>
</file>

<file path=customXml/itemProps3.xml><?xml version="1.0" encoding="utf-8"?>
<ds:datastoreItem xmlns:ds="http://schemas.openxmlformats.org/officeDocument/2006/customXml" ds:itemID="{487639B4-ADEA-4DF4-93E0-44FCF03B6CBA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343</TotalTime>
  <Words>1737</Words>
  <Application>Microsoft Office PowerPoint</Application>
  <PresentationFormat>On-screen Show (4:3)</PresentationFormat>
  <Paragraphs>209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Consolas</vt:lpstr>
      <vt:lpstr>Corbel</vt:lpstr>
      <vt:lpstr>Segoe UI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JavaScript HTML DOM Navigation</vt:lpstr>
      <vt:lpstr>Creating New HTML Elements (Nodes)</vt:lpstr>
      <vt:lpstr>Creating new HTML Elements - insertBefore()</vt:lpstr>
      <vt:lpstr>Removing Existing HTML Elements</vt:lpstr>
      <vt:lpstr>Removing a Child Node</vt:lpstr>
      <vt:lpstr>HTML DOM JS</vt:lpstr>
      <vt:lpstr>HTML DOM JS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Teacher</cp:lastModifiedBy>
  <cp:revision>27</cp:revision>
  <dcterms:created xsi:type="dcterms:W3CDTF">2018-12-10T17:20:29Z</dcterms:created>
  <dcterms:modified xsi:type="dcterms:W3CDTF">2026-03-03T09:27:34Z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